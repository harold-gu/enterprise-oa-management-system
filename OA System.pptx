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8" r:id="rId4"/>
    <p:sldId id="257" r:id="rId5"/>
    <p:sldId id="259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8.xml"/><Relationship Id="rId1" Type="http://schemas.openxmlformats.org/officeDocument/2006/relationships/tags" Target="../tags/tag6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Enterprise OA System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zh-CN"/>
              <a:t>Group M</a:t>
            </a:r>
            <a:endParaRPr lang="en-US" altLang="zh-CN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Overview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 centralized web-based platform designed to digitize and manage internal administrative workflows. It primarily focuses on processing employee leave applications, facilitating managerial approvals, and broadcasting company-wide announcements.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Intended Users: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457200">
              <a:buNone/>
            </a:pP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Employees: Staff members who need to submit leave requests, view their application history, and stay updated with company news.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457200">
              <a:buNone/>
            </a:pP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Managers / Administrators: Supervisors who need to review, approve, or reject pending requests and publish important announcements to the team.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  <a:p>
            <a:pPr marL="228600" lvl="0" indent="-228600">
              <a:buFont typeface="Arial" panose="020B0604020202020204" pitchFamily="34" charset="0"/>
              <a:buChar char="●"/>
            </a:pP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The Problem It Addresses Traditional paper-based forms or email-driven approval processes are inefficient, prone to human error, and lack transparency. It is difficult for management to track staff availability accurately and for employees to know the real-time status of their requests.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  <a:p>
            <a:pPr marL="228600" lvl="0" indent="-228600">
              <a:buFont typeface="Arial" panose="020B0604020202020204" pitchFamily="34" charset="0"/>
              <a:buChar char="●"/>
            </a:pP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The Value It Provides (Why It Is Useful) The system streamlines HR operations by eliminating paperwork and manual tracking. It provides a secure, database-backed "single source of truth" that saves processing time, ensures data accuracy, and greatly improves internal communication and operational efficiency.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330" y="608330"/>
            <a:ext cx="8510905" cy="461645"/>
          </a:xfrm>
        </p:spPr>
        <p:txBody>
          <a:bodyPr>
            <a:normAutofit fontScale="90000"/>
          </a:bodyPr>
          <a:p>
            <a:r>
              <a:rPr lang="en-US" altLang="zh-CN"/>
              <a:t>User Stories (MoSCoW)</a:t>
            </a:r>
            <a:endParaRPr lang="en-US" altLang="zh-CN"/>
          </a:p>
        </p:txBody>
      </p:sp>
      <p:graphicFrame>
        <p:nvGraphicFramePr>
          <p:cNvPr id="5" name="表格 4"/>
          <p:cNvGraphicFramePr/>
          <p:nvPr>
            <p:custDataLst>
              <p:tags r:id="rId1"/>
            </p:custDataLst>
          </p:nvPr>
        </p:nvGraphicFramePr>
        <p:xfrm>
          <a:off x="853440" y="1417320"/>
          <a:ext cx="10659110" cy="4583430"/>
        </p:xfrm>
        <a:graphic>
          <a:graphicData uri="http://schemas.openxmlformats.org/drawingml/2006/table">
            <a:tbl>
              <a:tblPr/>
              <a:tblGrid>
                <a:gridCol w="3552825"/>
                <a:gridCol w="1028700"/>
                <a:gridCol w="6077585"/>
              </a:tblGrid>
              <a:tr h="269875">
                <a:tc>
                  <a:txBody>
                    <a:bodyPr/>
                    <a:p>
                      <a:pPr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Google Sans Text"/>
                          <a:cs typeface="Times New Roman" panose="02020603050405020304" charset="0"/>
                        </a:rPr>
                        <a:t>ID</a:t>
                      </a:r>
                      <a:endParaRPr lang="en-US" altLang="zh-CN" sz="1400" b="0">
                        <a:latin typeface="Times New Roman" panose="02020603050405020304" charset="0"/>
                        <a:ea typeface="Google Sans Text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Google Sans Text"/>
                          <a:cs typeface="Times New Roman" panose="02020603050405020304" charset="0"/>
                        </a:rPr>
                        <a:t>Priority</a:t>
                      </a:r>
                      <a:endParaRPr lang="en-US" altLang="zh-CN" sz="1400" b="0">
                        <a:latin typeface="Times New Roman" panose="02020603050405020304" charset="0"/>
                        <a:ea typeface="Google Sans Text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Google Sans Text"/>
                          <a:cs typeface="Times New Roman" panose="02020603050405020304" charset="0"/>
                        </a:rPr>
                        <a:t>User Story</a:t>
                      </a:r>
                      <a:endParaRPr lang="en-US" altLang="zh-CN" sz="1400" b="0">
                        <a:latin typeface="Times New Roman" panose="02020603050405020304" charset="0"/>
                        <a:ea typeface="Google Sans Text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38480">
                <a:tc>
                  <a:txBody>
                    <a:bodyPr/>
                    <a:p>
                      <a:pPr>
                        <a:spcBef>
                          <a:spcPct val="0"/>
                        </a:spcBef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Google Sans Text"/>
                          <a:cs typeface="Times New Roman" panose="02020603050405020304" charset="0"/>
                        </a:rPr>
                        <a:t>M1</a:t>
                      </a:r>
                      <a:endParaRPr lang="en-US" altLang="zh-CN" sz="1400" b="0">
                        <a:latin typeface="Times New Roman" panose="02020603050405020304" charset="0"/>
                        <a:ea typeface="Google Sans Text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spcBef>
                          <a:spcPct val="0"/>
                        </a:spcBef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Google Sans Text"/>
                          <a:cs typeface="Times New Roman" panose="02020603050405020304" charset="0"/>
                        </a:rPr>
                        <a:t>Must</a:t>
                      </a:r>
                      <a:endParaRPr lang="en-US" altLang="zh-CN" sz="1400" b="0">
                        <a:latin typeface="Times New Roman" panose="02020603050405020304" charset="0"/>
                        <a:ea typeface="Google Sans Text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spcBef>
                          <a:spcPct val="0"/>
                        </a:spcBef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Google Sans Text"/>
                          <a:cs typeface="Times New Roman" panose="02020603050405020304" charset="0"/>
                        </a:rPr>
                        <a:t>As an Employee, I want to log in securely, so that I can access my personal dashboard.</a:t>
                      </a:r>
                      <a:endParaRPr lang="en-US" altLang="zh-CN" sz="1400" b="0">
                        <a:latin typeface="Times New Roman" panose="02020603050405020304" charset="0"/>
                        <a:ea typeface="Google Sans Text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39750">
                <a:tc>
                  <a:txBody>
                    <a:bodyPr/>
                    <a:p>
                      <a:pPr>
                        <a:spcBef>
                          <a:spcPct val="0"/>
                        </a:spcBef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Google Sans Text"/>
                          <a:cs typeface="Times New Roman" panose="02020603050405020304" charset="0"/>
                        </a:rPr>
                        <a:t>M2</a:t>
                      </a:r>
                      <a:endParaRPr lang="en-US" altLang="zh-CN" sz="1400" b="0">
                        <a:latin typeface="Times New Roman" panose="02020603050405020304" charset="0"/>
                        <a:ea typeface="Google Sans Text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spcBef>
                          <a:spcPct val="0"/>
                        </a:spcBef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Google Sans Text"/>
                          <a:cs typeface="Times New Roman" panose="02020603050405020304" charset="0"/>
                        </a:rPr>
                        <a:t>Must</a:t>
                      </a:r>
                      <a:endParaRPr lang="en-US" altLang="zh-CN" sz="1400" b="0">
                        <a:latin typeface="Times New Roman" panose="02020603050405020304" charset="0"/>
                        <a:ea typeface="Google Sans Text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spcBef>
                          <a:spcPct val="0"/>
                        </a:spcBef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Google Sans Text"/>
                          <a:cs typeface="Times New Roman" panose="02020603050405020304" charset="0"/>
                        </a:rPr>
                        <a:t>As an Employee, I want to submit a leave request form, so that the system records my planned absence.</a:t>
                      </a:r>
                      <a:endParaRPr lang="en-US" altLang="zh-CN" sz="1400" b="0">
                        <a:latin typeface="Times New Roman" panose="02020603050405020304" charset="0"/>
                        <a:ea typeface="Google Sans Text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39750">
                <a:tc>
                  <a:txBody>
                    <a:bodyPr/>
                    <a:p>
                      <a:pPr>
                        <a:spcBef>
                          <a:spcPct val="0"/>
                        </a:spcBef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Google Sans Text"/>
                          <a:cs typeface="Times New Roman" panose="02020603050405020304" charset="0"/>
                        </a:rPr>
                        <a:t>M3</a:t>
                      </a:r>
                      <a:endParaRPr lang="en-US" altLang="zh-CN" sz="1400" b="0">
                        <a:latin typeface="Times New Roman" panose="02020603050405020304" charset="0"/>
                        <a:ea typeface="Google Sans Text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spcBef>
                          <a:spcPct val="0"/>
                        </a:spcBef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Google Sans Text"/>
                          <a:cs typeface="Times New Roman" panose="02020603050405020304" charset="0"/>
                        </a:rPr>
                        <a:t>Must</a:t>
                      </a:r>
                      <a:endParaRPr lang="en-US" altLang="zh-CN" sz="1400" b="0">
                        <a:latin typeface="Times New Roman" panose="02020603050405020304" charset="0"/>
                        <a:ea typeface="Google Sans Text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spcBef>
                          <a:spcPct val="0"/>
                        </a:spcBef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Google Sans Text"/>
                          <a:cs typeface="Times New Roman" panose="02020603050405020304" charset="0"/>
                        </a:rPr>
                        <a:t>As a Manager, I want to view a list of pending requests, so that I can approve or reject them based on team capacity.</a:t>
                      </a:r>
                      <a:endParaRPr lang="en-US" altLang="zh-CN" sz="1400" b="0">
                        <a:latin typeface="Times New Roman" panose="02020603050405020304" charset="0"/>
                        <a:ea typeface="Google Sans Text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38480">
                <a:tc>
                  <a:txBody>
                    <a:bodyPr/>
                    <a:p>
                      <a:pPr>
                        <a:spcBef>
                          <a:spcPct val="0"/>
                        </a:spcBef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Google Sans Text"/>
                          <a:cs typeface="Times New Roman" panose="02020603050405020304" charset="0"/>
                        </a:rPr>
                        <a:t>M4</a:t>
                      </a:r>
                      <a:endParaRPr lang="en-US" altLang="zh-CN" sz="1400" b="0">
                        <a:latin typeface="Times New Roman" panose="02020603050405020304" charset="0"/>
                        <a:ea typeface="Google Sans Text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spcBef>
                          <a:spcPct val="0"/>
                        </a:spcBef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Google Sans Text"/>
                          <a:cs typeface="Times New Roman" panose="02020603050405020304" charset="0"/>
                        </a:rPr>
                        <a:t>Must</a:t>
                      </a:r>
                      <a:endParaRPr lang="en-US" altLang="zh-CN" sz="1400" b="0">
                        <a:latin typeface="Times New Roman" panose="02020603050405020304" charset="0"/>
                        <a:ea typeface="Google Sans Text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spcBef>
                          <a:spcPct val="0"/>
                        </a:spcBef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Google Sans Text"/>
                          <a:cs typeface="Times New Roman" panose="02020603050405020304" charset="0"/>
                        </a:rPr>
                        <a:t>As an Employee, I want to view my request history, so that I can track the status of my previous applications.</a:t>
                      </a:r>
                      <a:endParaRPr lang="en-US" altLang="zh-CN" sz="1400" b="0">
                        <a:latin typeface="Times New Roman" panose="02020603050405020304" charset="0"/>
                        <a:ea typeface="Google Sans Text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39750">
                <a:tc>
                  <a:txBody>
                    <a:bodyPr/>
                    <a:p>
                      <a:pPr>
                        <a:spcBef>
                          <a:spcPct val="0"/>
                        </a:spcBef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Google Sans Text"/>
                          <a:cs typeface="Times New Roman" panose="02020603050405020304" charset="0"/>
                        </a:rPr>
                        <a:t>S1</a:t>
                      </a:r>
                      <a:endParaRPr lang="en-US" altLang="zh-CN" sz="1400" b="0">
                        <a:latin typeface="Times New Roman" panose="02020603050405020304" charset="0"/>
                        <a:ea typeface="Google Sans Text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spcBef>
                          <a:spcPct val="0"/>
                        </a:spcBef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Google Sans Text"/>
                          <a:cs typeface="Times New Roman" panose="02020603050405020304" charset="0"/>
                        </a:rPr>
                        <a:t>Should</a:t>
                      </a:r>
                      <a:endParaRPr lang="en-US" altLang="zh-CN" sz="1400" b="0">
                        <a:latin typeface="Times New Roman" panose="02020603050405020304" charset="0"/>
                        <a:ea typeface="Google Sans Text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spcBef>
                          <a:spcPct val="0"/>
                        </a:spcBef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Google Sans Text"/>
                          <a:cs typeface="Times New Roman" panose="02020603050405020304" charset="0"/>
                        </a:rPr>
                        <a:t>As a Manager, I want to post system announcements, so that important news is visible to all staff upon login.</a:t>
                      </a:r>
                      <a:endParaRPr lang="en-US" altLang="zh-CN" sz="1400" b="0">
                        <a:latin typeface="Times New Roman" panose="02020603050405020304" charset="0"/>
                        <a:ea typeface="Google Sans Text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39115">
                <a:tc>
                  <a:txBody>
                    <a:bodyPr/>
                    <a:p>
                      <a:pPr>
                        <a:spcBef>
                          <a:spcPct val="0"/>
                        </a:spcBef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Google Sans Text"/>
                          <a:cs typeface="Times New Roman" panose="02020603050405020304" charset="0"/>
                        </a:rPr>
                        <a:t>S2</a:t>
                      </a:r>
                      <a:endParaRPr lang="en-US" altLang="zh-CN" sz="1400" b="0">
                        <a:latin typeface="Times New Roman" panose="02020603050405020304" charset="0"/>
                        <a:ea typeface="Google Sans Text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spcBef>
                          <a:spcPct val="0"/>
                        </a:spcBef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Google Sans Text"/>
                          <a:cs typeface="Times New Roman" panose="02020603050405020304" charset="0"/>
                        </a:rPr>
                        <a:t>Should</a:t>
                      </a:r>
                      <a:endParaRPr lang="en-US" altLang="zh-CN" sz="1400" b="0">
                        <a:latin typeface="Times New Roman" panose="02020603050405020304" charset="0"/>
                        <a:ea typeface="Google Sans Text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spcBef>
                          <a:spcPct val="0"/>
                        </a:spcBef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Google Sans Text"/>
                          <a:cs typeface="Times New Roman" panose="02020603050405020304" charset="0"/>
                        </a:rPr>
                        <a:t>As an Employee, I want to receive status notifications, so that I know immediately when my request is processed.</a:t>
                      </a:r>
                      <a:endParaRPr lang="en-US" altLang="zh-CN" sz="1400" b="0">
                        <a:latin typeface="Times New Roman" panose="02020603050405020304" charset="0"/>
                        <a:ea typeface="Google Sans Text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38480">
                <a:tc>
                  <a:txBody>
                    <a:bodyPr/>
                    <a:p>
                      <a:pPr>
                        <a:spcBef>
                          <a:spcPct val="0"/>
                        </a:spcBef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Google Sans Text"/>
                          <a:cs typeface="Times New Roman" panose="02020603050405020304" charset="0"/>
                        </a:rPr>
                        <a:t>C1</a:t>
                      </a:r>
                      <a:endParaRPr lang="en-US" altLang="zh-CN" sz="1400" b="0">
                        <a:latin typeface="Times New Roman" panose="02020603050405020304" charset="0"/>
                        <a:ea typeface="Google Sans Text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spcBef>
                          <a:spcPct val="0"/>
                        </a:spcBef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Google Sans Text"/>
                          <a:cs typeface="Times New Roman" panose="02020603050405020304" charset="0"/>
                        </a:rPr>
                        <a:t>Could</a:t>
                      </a:r>
                      <a:endParaRPr lang="en-US" altLang="zh-CN" sz="1400" b="0">
                        <a:latin typeface="Times New Roman" panose="02020603050405020304" charset="0"/>
                        <a:ea typeface="Google Sans Text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spcBef>
                          <a:spcPct val="0"/>
                        </a:spcBef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Google Sans Text"/>
                          <a:cs typeface="Times New Roman" panose="02020603050405020304" charset="0"/>
                        </a:rPr>
                        <a:t>As a Manager, I want to filter requests by date or name, so that I can quickly find specific records.</a:t>
                      </a:r>
                      <a:endParaRPr lang="en-US" altLang="zh-CN" sz="1400" b="0">
                        <a:latin typeface="Times New Roman" panose="02020603050405020304" charset="0"/>
                        <a:ea typeface="Google Sans Text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39750">
                <a:tc>
                  <a:txBody>
                    <a:bodyPr/>
                    <a:p>
                      <a:pPr>
                        <a:spcBef>
                          <a:spcPct val="0"/>
                        </a:spcBef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Google Sans Text"/>
                          <a:cs typeface="Times New Roman" panose="02020603050405020304" charset="0"/>
                        </a:rPr>
                        <a:t>W1</a:t>
                      </a:r>
                      <a:endParaRPr lang="en-US" altLang="zh-CN" sz="1400" b="0">
                        <a:latin typeface="Times New Roman" panose="02020603050405020304" charset="0"/>
                        <a:ea typeface="Google Sans Text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spcBef>
                          <a:spcPct val="0"/>
                        </a:spcBef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Google Sans Text"/>
                          <a:cs typeface="Times New Roman" panose="02020603050405020304" charset="0"/>
                        </a:rPr>
                        <a:t>Won't</a:t>
                      </a:r>
                      <a:endParaRPr lang="en-US" altLang="zh-CN" sz="1400" b="0">
                        <a:latin typeface="Times New Roman" panose="02020603050405020304" charset="0"/>
                        <a:ea typeface="Google Sans Text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spcBef>
                          <a:spcPct val="0"/>
                        </a:spcBef>
                      </a:pPr>
                      <a:r>
                        <a:rPr lang="en-US" altLang="zh-CN" sz="1400" b="0">
                          <a:latin typeface="Times New Roman" panose="02020603050405020304" charset="0"/>
                          <a:ea typeface="Google Sans Text"/>
                          <a:cs typeface="Times New Roman" panose="02020603050405020304" charset="0"/>
                        </a:rPr>
                        <a:t>As an Employee, I want to start a video call within the app, so that I can have remote meetings (out of scope).</a:t>
                      </a:r>
                      <a:endParaRPr lang="en-US" altLang="zh-CN" sz="1400" b="0">
                        <a:latin typeface="Times New Roman" panose="02020603050405020304" charset="0"/>
                        <a:ea typeface="Google Sans Text"/>
                        <a:cs typeface="Times New Roman" panose="02020603050405020304" charset="0"/>
                      </a:endParaRPr>
                    </a:p>
                  </a:txBody>
                  <a:tcPr marL="0" marR="0" marT="0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7.xml><?xml version="1.0" encoding="utf-8"?>
<p:tagLst xmlns:p="http://schemas.openxmlformats.org/presentationml/2006/main">
  <p:tag name="TABLE_ENDDRAG_ORIGIN_RECT" val="839*360"/>
  <p:tag name="TABLE_ENDDRAG_RECT" val="67*111*839*360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2101</Words>
  <Application>WPS 演示</Application>
  <PresentationFormat>宽屏</PresentationFormat>
  <Paragraphs>69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5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Google Sans Text</vt:lpstr>
      <vt:lpstr>Segoe Print</vt:lpstr>
      <vt:lpstr>Times New Roman</vt:lpstr>
      <vt:lpstr>WPS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云中客</cp:lastModifiedBy>
  <cp:revision>160</cp:revision>
  <dcterms:created xsi:type="dcterms:W3CDTF">2019-06-19T02:08:00Z</dcterms:created>
  <dcterms:modified xsi:type="dcterms:W3CDTF">2026-02-09T13:58:58Z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2052-12.1.0.18912</vt:lpwstr>
  </property>
  <property fmtid="{D5CDD505-2E9C-101B-9397-08002B2CF9AE}" pid="3" name="ICV">
    <vt:lpwstr>9185A68F09A94C419070447046A2AAE5_11</vt:lpwstr>
  </property>
</Properties>
</file>