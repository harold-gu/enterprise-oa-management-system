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7" r:id="rId5"/>
    <p:sldId id="259"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2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26"/>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5.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9.xml"/><Relationship Id="rId1" Type="http://schemas.openxmlformats.org/officeDocument/2006/relationships/tags" Target="../tags/tag7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en-US" altLang="zh-CN"/>
              <a:t>Enterprise OA System</a:t>
            </a:r>
            <a:endParaRPr lang="en-US" altLang="zh-CN"/>
          </a:p>
        </p:txBody>
      </p:sp>
      <p:sp>
        <p:nvSpPr>
          <p:cNvPr id="3" name="副标题 2"/>
          <p:cNvSpPr>
            <a:spLocks noGrp="1"/>
          </p:cNvSpPr>
          <p:nvPr>
            <p:ph type="subTitle" idx="1"/>
            <p:custDataLst>
              <p:tags r:id="rId2"/>
            </p:custDataLst>
          </p:nvPr>
        </p:nvSpPr>
        <p:spPr/>
        <p:txBody>
          <a:bodyPr/>
          <a:p>
            <a:r>
              <a:rPr lang="en-US" altLang="zh-CN"/>
              <a:t>Group M</a:t>
            </a:r>
            <a:endParaRPr lang="en-US" altLang="zh-CN"/>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ctr"/>
            <a:r>
              <a:rPr lang="en-US" altLang="zh-CN"/>
              <a:t>Overview</a:t>
            </a:r>
            <a:endParaRPr lang="en-US" altLang="zh-CN"/>
          </a:p>
        </p:txBody>
      </p:sp>
      <p:sp>
        <p:nvSpPr>
          <p:cNvPr id="3" name="内容占位符 2"/>
          <p:cNvSpPr>
            <a:spLocks noGrp="1"/>
          </p:cNvSpPr>
          <p:nvPr>
            <p:ph idx="1"/>
          </p:nvPr>
        </p:nvSpPr>
        <p:spPr/>
        <p:txBody>
          <a:bodyPr/>
          <a:p>
            <a:r>
              <a:rPr lang="en-US" altLang="zh-CN" sz="1200">
                <a:latin typeface="Times New Roman" panose="02020603050405020304" charset="0"/>
                <a:cs typeface="Times New Roman" panose="02020603050405020304" charset="0"/>
              </a:rPr>
              <a:t>A centralized web-based platform designed to digitize and manage internal administrative workflows. It primarily focuses on processing employee leave applications, facilitating managerial approvals, and broadcasting company-wide announcements.</a:t>
            </a:r>
            <a:endParaRPr lang="en-US" altLang="zh-CN" sz="1200">
              <a:latin typeface="Times New Roman" panose="02020603050405020304" charset="0"/>
              <a:cs typeface="Times New Roman" panose="02020603050405020304" charset="0"/>
            </a:endParaRPr>
          </a:p>
          <a:p>
            <a:r>
              <a:rPr lang="en-US" altLang="zh-CN" sz="1200">
                <a:latin typeface="Times New Roman" panose="02020603050405020304" charset="0"/>
                <a:cs typeface="Times New Roman" panose="02020603050405020304" charset="0"/>
              </a:rPr>
              <a:t>Intended Users:</a:t>
            </a:r>
            <a:endParaRPr lang="en-US" altLang="zh-CN" sz="1200">
              <a:latin typeface="Times New Roman" panose="02020603050405020304" charset="0"/>
              <a:cs typeface="Times New Roman" panose="02020603050405020304" charset="0"/>
            </a:endParaRPr>
          </a:p>
          <a:p>
            <a:pPr marL="0" indent="457200">
              <a:buNone/>
            </a:pPr>
            <a:r>
              <a:rPr lang="en-US" altLang="zh-CN" sz="1200">
                <a:latin typeface="Times New Roman" panose="02020603050405020304" charset="0"/>
                <a:cs typeface="Times New Roman" panose="02020603050405020304" charset="0"/>
              </a:rPr>
              <a:t>Employees: Staff members who need to submit leave requests, view their application history, and stay updated with company news.</a:t>
            </a:r>
            <a:endParaRPr lang="en-US" altLang="zh-CN" sz="1200">
              <a:latin typeface="Times New Roman" panose="02020603050405020304" charset="0"/>
              <a:cs typeface="Times New Roman" panose="02020603050405020304" charset="0"/>
            </a:endParaRPr>
          </a:p>
          <a:p>
            <a:pPr marL="0" indent="457200">
              <a:buNone/>
            </a:pPr>
            <a:r>
              <a:rPr lang="en-US" altLang="zh-CN" sz="1200">
                <a:latin typeface="Times New Roman" panose="02020603050405020304" charset="0"/>
                <a:cs typeface="Times New Roman" panose="02020603050405020304" charset="0"/>
              </a:rPr>
              <a:t>Managers / Administrators: Supervisors who need to review, approve, or reject pending requests and publish important announcements to the team.</a:t>
            </a:r>
            <a:endParaRPr lang="en-US" altLang="zh-CN" sz="1200">
              <a:latin typeface="Times New Roman" panose="02020603050405020304" charset="0"/>
              <a:cs typeface="Times New Roman" panose="02020603050405020304" charset="0"/>
            </a:endParaRPr>
          </a:p>
          <a:p>
            <a:pPr marL="228600" lvl="0" indent="-228600">
              <a:buFont typeface="Arial" panose="020B0604020202020204" pitchFamily="34" charset="0"/>
              <a:buChar char="●"/>
            </a:pPr>
            <a:r>
              <a:rPr lang="en-US" altLang="zh-CN" sz="1200">
                <a:latin typeface="Times New Roman" panose="02020603050405020304" charset="0"/>
                <a:cs typeface="Times New Roman" panose="02020603050405020304" charset="0"/>
              </a:rPr>
              <a:t>The Problem It Addresses Traditional paper-based forms or email-driven approval processes are inefficient, prone to human error, and lack transparency. It is difficult for management to track staff availability accurately and for employees to know the real-time status of their requests.</a:t>
            </a:r>
            <a:endParaRPr lang="en-US" altLang="zh-CN" sz="1200">
              <a:latin typeface="Times New Roman" panose="02020603050405020304" charset="0"/>
              <a:cs typeface="Times New Roman" panose="02020603050405020304" charset="0"/>
            </a:endParaRPr>
          </a:p>
          <a:p>
            <a:pPr marL="228600" lvl="0" indent="-228600">
              <a:buFont typeface="Arial" panose="020B0604020202020204" pitchFamily="34" charset="0"/>
              <a:buChar char="●"/>
            </a:pPr>
            <a:r>
              <a:rPr lang="en-US" altLang="zh-CN" sz="1200">
                <a:latin typeface="Times New Roman" panose="02020603050405020304" charset="0"/>
                <a:cs typeface="Times New Roman" panose="02020603050405020304" charset="0"/>
              </a:rPr>
              <a:t>The Value It Provides (Why It Is Useful) The system streamlines HR operations by eliminating paperwork and manual tracking. It provides a secure, database-backed "single source of truth" that saves processing time, ensures data accuracy, and greatly improves internal communication and operational efficiency.</a:t>
            </a:r>
            <a:endParaRPr lang="en-US" altLang="zh-CN" sz="1200">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8330" y="608330"/>
            <a:ext cx="8510905" cy="461645"/>
          </a:xfrm>
        </p:spPr>
        <p:txBody>
          <a:bodyPr>
            <a:normAutofit fontScale="90000"/>
          </a:bodyPr>
          <a:p>
            <a:pPr algn="ctr"/>
            <a:r>
              <a:rPr lang="en-US" altLang="zh-CN"/>
              <a:t>User Stories (MoSCoW)</a:t>
            </a:r>
            <a:endParaRPr lang="en-US" altLang="zh-CN"/>
          </a:p>
        </p:txBody>
      </p:sp>
      <p:graphicFrame>
        <p:nvGraphicFramePr>
          <p:cNvPr id="5" name="表格 4"/>
          <p:cNvGraphicFramePr/>
          <p:nvPr>
            <p:custDataLst>
              <p:tags r:id="rId1"/>
            </p:custDataLst>
          </p:nvPr>
        </p:nvGraphicFramePr>
        <p:xfrm>
          <a:off x="853440" y="1417320"/>
          <a:ext cx="10659110" cy="4583430"/>
        </p:xfrm>
        <a:graphic>
          <a:graphicData uri="http://schemas.openxmlformats.org/drawingml/2006/table">
            <a:tbl>
              <a:tblPr/>
              <a:tblGrid>
                <a:gridCol w="3552825"/>
                <a:gridCol w="1028700"/>
                <a:gridCol w="6077585"/>
              </a:tblGrid>
              <a:tr h="269875">
                <a:tc>
                  <a:txBody>
                    <a:bodyPr/>
                    <a:p>
                      <a:pPr>
                        <a:spcBef>
                          <a:spcPct val="0"/>
                        </a:spcBef>
                        <a:spcAft>
                          <a:spcPct val="0"/>
                        </a:spcAft>
                      </a:pPr>
                      <a:r>
                        <a:rPr lang="en-US" altLang="zh-CN" sz="1400" b="0">
                          <a:latin typeface="Times New Roman" panose="02020603050405020304" charset="0"/>
                          <a:ea typeface="Google Sans Text"/>
                          <a:cs typeface="Times New Roman" panose="02020603050405020304" charset="0"/>
                        </a:rPr>
                        <a:t>ID</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spcAft>
                          <a:spcPct val="0"/>
                        </a:spcAft>
                      </a:pPr>
                      <a:r>
                        <a:rPr lang="en-US" altLang="zh-CN" sz="1400" b="0">
                          <a:latin typeface="Times New Roman" panose="02020603050405020304" charset="0"/>
                          <a:ea typeface="Google Sans Text"/>
                          <a:cs typeface="Times New Roman" panose="02020603050405020304" charset="0"/>
                        </a:rPr>
                        <a:t>Priority</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spcAft>
                          <a:spcPct val="0"/>
                        </a:spcAft>
                      </a:pPr>
                      <a:r>
                        <a:rPr lang="en-US" altLang="zh-CN" sz="1400" b="0">
                          <a:latin typeface="Times New Roman" panose="02020603050405020304" charset="0"/>
                          <a:ea typeface="Google Sans Text"/>
                          <a:cs typeface="Times New Roman" panose="02020603050405020304" charset="0"/>
                        </a:rPr>
                        <a:t>User Story</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38480">
                <a:tc>
                  <a:txBody>
                    <a:bodyPr/>
                    <a:p>
                      <a:pPr>
                        <a:spcBef>
                          <a:spcPct val="0"/>
                        </a:spcBef>
                      </a:pPr>
                      <a:r>
                        <a:rPr lang="en-US" altLang="zh-CN" sz="1400" b="0">
                          <a:latin typeface="Times New Roman" panose="02020603050405020304" charset="0"/>
                          <a:ea typeface="Google Sans Text"/>
                          <a:cs typeface="Times New Roman" panose="02020603050405020304" charset="0"/>
                        </a:rPr>
                        <a:t>M1</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0">
                          <a:latin typeface="Times New Roman" panose="02020603050405020304" charset="0"/>
                          <a:ea typeface="Google Sans Text"/>
                          <a:cs typeface="Times New Roman" panose="02020603050405020304" charset="0"/>
                        </a:rPr>
                        <a:t>Must</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0">
                          <a:latin typeface="Times New Roman" panose="02020603050405020304" charset="0"/>
                          <a:ea typeface="Google Sans Text"/>
                          <a:cs typeface="Times New Roman" panose="02020603050405020304" charset="0"/>
                        </a:rPr>
                        <a:t>As an Employee, I want to log in securely, so that I can access my personal dashboard.</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39750">
                <a:tc>
                  <a:txBody>
                    <a:bodyPr/>
                    <a:p>
                      <a:pPr>
                        <a:spcBef>
                          <a:spcPct val="0"/>
                        </a:spcBef>
                      </a:pPr>
                      <a:r>
                        <a:rPr lang="en-US" altLang="zh-CN" sz="1400" b="0">
                          <a:latin typeface="Times New Roman" panose="02020603050405020304" charset="0"/>
                          <a:ea typeface="Google Sans Text"/>
                          <a:cs typeface="Times New Roman" panose="02020603050405020304" charset="0"/>
                        </a:rPr>
                        <a:t>M2</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0">
                          <a:latin typeface="Times New Roman" panose="02020603050405020304" charset="0"/>
                          <a:ea typeface="Google Sans Text"/>
                          <a:cs typeface="Times New Roman" panose="02020603050405020304" charset="0"/>
                        </a:rPr>
                        <a:t>Must</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0">
                          <a:latin typeface="Times New Roman" panose="02020603050405020304" charset="0"/>
                          <a:ea typeface="Google Sans Text"/>
                          <a:cs typeface="Times New Roman" panose="02020603050405020304" charset="0"/>
                        </a:rPr>
                        <a:t>As an Employee, I want to submit a leave request form, so that the system records my planned absence.</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39750">
                <a:tc>
                  <a:txBody>
                    <a:bodyPr/>
                    <a:p>
                      <a:pPr>
                        <a:spcBef>
                          <a:spcPct val="0"/>
                        </a:spcBef>
                      </a:pPr>
                      <a:r>
                        <a:rPr lang="en-US" altLang="zh-CN" sz="1400" b="0">
                          <a:latin typeface="Times New Roman" panose="02020603050405020304" charset="0"/>
                          <a:ea typeface="Google Sans Text"/>
                          <a:cs typeface="Times New Roman" panose="02020603050405020304" charset="0"/>
                        </a:rPr>
                        <a:t>M3</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0">
                          <a:latin typeface="Times New Roman" panose="02020603050405020304" charset="0"/>
                          <a:ea typeface="Google Sans Text"/>
                          <a:cs typeface="Times New Roman" panose="02020603050405020304" charset="0"/>
                        </a:rPr>
                        <a:t>Must</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0">
                          <a:latin typeface="Times New Roman" panose="02020603050405020304" charset="0"/>
                          <a:ea typeface="Google Sans Text"/>
                          <a:cs typeface="Times New Roman" panose="02020603050405020304" charset="0"/>
                        </a:rPr>
                        <a:t>As a Manager, I want to view a list of pending requests, so that I can approve or reject them based on team capacity.</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38480">
                <a:tc>
                  <a:txBody>
                    <a:bodyPr/>
                    <a:p>
                      <a:pPr>
                        <a:spcBef>
                          <a:spcPct val="0"/>
                        </a:spcBef>
                      </a:pPr>
                      <a:r>
                        <a:rPr lang="en-US" altLang="zh-CN" sz="1400" b="0">
                          <a:latin typeface="Times New Roman" panose="02020603050405020304" charset="0"/>
                          <a:ea typeface="Google Sans Text"/>
                          <a:cs typeface="Times New Roman" panose="02020603050405020304" charset="0"/>
                        </a:rPr>
                        <a:t>M4</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0">
                          <a:latin typeface="Times New Roman" panose="02020603050405020304" charset="0"/>
                          <a:ea typeface="Google Sans Text"/>
                          <a:cs typeface="Times New Roman" panose="02020603050405020304" charset="0"/>
                        </a:rPr>
                        <a:t>Must</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0">
                          <a:latin typeface="Times New Roman" panose="02020603050405020304" charset="0"/>
                          <a:ea typeface="Google Sans Text"/>
                          <a:cs typeface="Times New Roman" panose="02020603050405020304" charset="0"/>
                        </a:rPr>
                        <a:t>As an Employee, I want to view my request history, so that I can track the status of my previous applications.</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39750">
                <a:tc>
                  <a:txBody>
                    <a:bodyPr/>
                    <a:p>
                      <a:pPr>
                        <a:spcBef>
                          <a:spcPct val="0"/>
                        </a:spcBef>
                      </a:pPr>
                      <a:r>
                        <a:rPr lang="en-US" altLang="zh-CN" sz="1400" b="0">
                          <a:latin typeface="Times New Roman" panose="02020603050405020304" charset="0"/>
                          <a:ea typeface="Google Sans Text"/>
                          <a:cs typeface="Times New Roman" panose="02020603050405020304" charset="0"/>
                        </a:rPr>
                        <a:t>S1</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0">
                          <a:latin typeface="Times New Roman" panose="02020603050405020304" charset="0"/>
                          <a:ea typeface="Google Sans Text"/>
                          <a:cs typeface="Times New Roman" panose="02020603050405020304" charset="0"/>
                        </a:rPr>
                        <a:t>Should</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0">
                          <a:latin typeface="Times New Roman" panose="02020603050405020304" charset="0"/>
                          <a:ea typeface="Google Sans Text"/>
                          <a:cs typeface="Times New Roman" panose="02020603050405020304" charset="0"/>
                        </a:rPr>
                        <a:t>As a Manager, I want to post system announcements, so that important news is visible to all staff upon login.</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39115">
                <a:tc>
                  <a:txBody>
                    <a:bodyPr/>
                    <a:p>
                      <a:pPr>
                        <a:spcBef>
                          <a:spcPct val="0"/>
                        </a:spcBef>
                      </a:pPr>
                      <a:r>
                        <a:rPr lang="en-US" altLang="zh-CN" sz="1400" b="0">
                          <a:latin typeface="Times New Roman" panose="02020603050405020304" charset="0"/>
                          <a:ea typeface="Google Sans Text"/>
                          <a:cs typeface="Times New Roman" panose="02020603050405020304" charset="0"/>
                        </a:rPr>
                        <a:t>S2</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0">
                          <a:latin typeface="Times New Roman" panose="02020603050405020304" charset="0"/>
                          <a:ea typeface="Google Sans Text"/>
                          <a:cs typeface="Times New Roman" panose="02020603050405020304" charset="0"/>
                        </a:rPr>
                        <a:t>Should</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0">
                          <a:latin typeface="Times New Roman" panose="02020603050405020304" charset="0"/>
                          <a:ea typeface="Google Sans Text"/>
                          <a:cs typeface="Times New Roman" panose="02020603050405020304" charset="0"/>
                        </a:rPr>
                        <a:t>As an Employee, I want to receive status notifications, so that I know immediately when my request is processed.</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38480">
                <a:tc>
                  <a:txBody>
                    <a:bodyPr/>
                    <a:p>
                      <a:pPr>
                        <a:spcBef>
                          <a:spcPct val="0"/>
                        </a:spcBef>
                      </a:pPr>
                      <a:r>
                        <a:rPr lang="en-US" altLang="zh-CN" sz="1400" b="0">
                          <a:latin typeface="Times New Roman" panose="02020603050405020304" charset="0"/>
                          <a:ea typeface="Google Sans Text"/>
                          <a:cs typeface="Times New Roman" panose="02020603050405020304" charset="0"/>
                        </a:rPr>
                        <a:t>C1</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0">
                          <a:latin typeface="Times New Roman" panose="02020603050405020304" charset="0"/>
                          <a:ea typeface="Google Sans Text"/>
                          <a:cs typeface="Times New Roman" panose="02020603050405020304" charset="0"/>
                        </a:rPr>
                        <a:t>Could</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0">
                          <a:latin typeface="Times New Roman" panose="02020603050405020304" charset="0"/>
                          <a:ea typeface="Google Sans Text"/>
                          <a:cs typeface="Times New Roman" panose="02020603050405020304" charset="0"/>
                        </a:rPr>
                        <a:t>As a Manager, I want to filter requests by date or name, so that I can quickly find specific records.</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39750">
                <a:tc>
                  <a:txBody>
                    <a:bodyPr/>
                    <a:p>
                      <a:pPr>
                        <a:spcBef>
                          <a:spcPct val="0"/>
                        </a:spcBef>
                      </a:pPr>
                      <a:r>
                        <a:rPr lang="en-US" altLang="zh-CN" sz="1400" b="0">
                          <a:latin typeface="Times New Roman" panose="02020603050405020304" charset="0"/>
                          <a:ea typeface="Google Sans Text"/>
                          <a:cs typeface="Times New Roman" panose="02020603050405020304" charset="0"/>
                        </a:rPr>
                        <a:t>W1</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0">
                          <a:latin typeface="Times New Roman" panose="02020603050405020304" charset="0"/>
                          <a:ea typeface="Google Sans Text"/>
                          <a:cs typeface="Times New Roman" panose="02020603050405020304" charset="0"/>
                        </a:rPr>
                        <a:t>Won't</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0">
                          <a:latin typeface="Times New Roman" panose="02020603050405020304" charset="0"/>
                          <a:ea typeface="Google Sans Text"/>
                          <a:cs typeface="Times New Roman" panose="02020603050405020304" charset="0"/>
                        </a:rPr>
                        <a:t>As an Employee, I want to start a video call within the app, so that I can have remote meetings (out of scope).</a:t>
                      </a:r>
                      <a:endParaRPr lang="en-US" altLang="zh-CN" sz="1400" b="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8400" y="497910"/>
            <a:ext cx="10969200" cy="705600"/>
          </a:xfrm>
        </p:spPr>
        <p:txBody>
          <a:bodyPr/>
          <a:p>
            <a:pPr algn="ctr"/>
            <a:r>
              <a:rPr lang="en-US" altLang="zh-CN"/>
              <a:t>System Architecture</a:t>
            </a:r>
            <a:endParaRPr lang="en-US" altLang="zh-CN"/>
          </a:p>
        </p:txBody>
      </p:sp>
      <p:sp>
        <p:nvSpPr>
          <p:cNvPr id="5" name="文本框 4"/>
          <p:cNvSpPr txBox="1"/>
          <p:nvPr/>
        </p:nvSpPr>
        <p:spPr>
          <a:xfrm>
            <a:off x="9350375" y="1203325"/>
            <a:ext cx="2679700" cy="4102100"/>
          </a:xfrm>
          <a:prstGeom prst="rect">
            <a:avLst/>
          </a:prstGeom>
          <a:noFill/>
        </p:spPr>
        <p:txBody>
          <a:bodyPr wrap="square" rtlCol="0">
            <a:noAutofit/>
          </a:bodyPr>
          <a:p>
            <a:r>
              <a:rPr lang="en-US" altLang="zh-CN"/>
              <a:t>The framework taught in class is convenient for development, but it is not very conducive to collaborative development. To facilitate collaborative development, we adopted this front-end and back-end separated system architecture to meet our needs.</a:t>
            </a:r>
            <a:endParaRPr lang="en-US" altLang="zh-CN"/>
          </a:p>
        </p:txBody>
      </p:sp>
      <p:pic>
        <p:nvPicPr>
          <p:cNvPr id="7" name="内容占位符 6"/>
          <p:cNvPicPr>
            <a:picLocks noChangeAspect="1"/>
          </p:cNvPicPr>
          <p:nvPr>
            <p:ph idx="1"/>
          </p:nvPr>
        </p:nvPicPr>
        <p:blipFill>
          <a:blip r:embed="rId1"/>
          <a:stretch>
            <a:fillRect/>
          </a:stretch>
        </p:blipFill>
        <p:spPr>
          <a:xfrm>
            <a:off x="65405" y="1203325"/>
            <a:ext cx="9285605" cy="5081905"/>
          </a:xfrm>
          <a:prstGeom prst="rect">
            <a:avLst/>
          </a:prstGeom>
        </p:spPr>
      </p:pic>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ctr"/>
            <a:r>
              <a:rPr lang="en-US" altLang="zh-CN"/>
              <a:t>ER Diagram</a:t>
            </a:r>
            <a:endParaRPr lang="en-US" altLang="zh-CN"/>
          </a:p>
        </p:txBody>
      </p:sp>
      <p:pic>
        <p:nvPicPr>
          <p:cNvPr id="6" name="图片 5"/>
          <p:cNvPicPr>
            <a:picLocks noChangeAspect="1"/>
          </p:cNvPicPr>
          <p:nvPr/>
        </p:nvPicPr>
        <p:blipFill>
          <a:blip r:embed="rId1"/>
          <a:stretch>
            <a:fillRect/>
          </a:stretch>
        </p:blipFill>
        <p:spPr>
          <a:xfrm>
            <a:off x="386715" y="1240790"/>
            <a:ext cx="5792470" cy="4990465"/>
          </a:xfrm>
          <a:prstGeom prst="rect">
            <a:avLst/>
          </a:prstGeom>
        </p:spPr>
      </p:pic>
      <p:graphicFrame>
        <p:nvGraphicFramePr>
          <p:cNvPr id="7" name="表格 6"/>
          <p:cNvGraphicFramePr/>
          <p:nvPr>
            <p:custDataLst>
              <p:tags r:id="rId2"/>
            </p:custDataLst>
          </p:nvPr>
        </p:nvGraphicFramePr>
        <p:xfrm>
          <a:off x="6073775" y="1487170"/>
          <a:ext cx="5697855" cy="4555490"/>
        </p:xfrm>
        <a:graphic>
          <a:graphicData uri="http://schemas.openxmlformats.org/drawingml/2006/table">
            <a:tbl>
              <a:tblPr/>
              <a:tblGrid>
                <a:gridCol w="1899285"/>
                <a:gridCol w="1899285"/>
                <a:gridCol w="1899285"/>
              </a:tblGrid>
              <a:tr h="854075">
                <a:tc>
                  <a:txBody>
                    <a:bodyPr/>
                    <a:p>
                      <a:pPr>
                        <a:spcBef>
                          <a:spcPct val="0"/>
                        </a:spcBef>
                        <a:spcAft>
                          <a:spcPct val="0"/>
                        </a:spcAft>
                      </a:pPr>
                      <a:r>
                        <a:rPr lang="en-US" altLang="zh-CN" sz="1400">
                          <a:latin typeface="Times New Roman" panose="02020603050405020304" charset="0"/>
                          <a:ea typeface="Google Sans Text"/>
                          <a:cs typeface="Times New Roman" panose="02020603050405020304" charset="0"/>
                        </a:rPr>
                        <a:t>Entity </a:t>
                      </a:r>
                      <a:endParaRPr lang="en-US" altLang="zh-CN" sz="140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spcAft>
                          <a:spcPct val="0"/>
                        </a:spcAft>
                      </a:pPr>
                      <a:r>
                        <a:rPr lang="en-US" altLang="zh-CN" sz="1400">
                          <a:latin typeface="Times New Roman" panose="02020603050405020304" charset="0"/>
                          <a:ea typeface="Google Sans Text"/>
                          <a:cs typeface="Times New Roman" panose="02020603050405020304" charset="0"/>
                        </a:rPr>
                        <a:t>Attributes (Bold = Primary Key, Italic = Foreign Key)</a:t>
                      </a:r>
                      <a:endParaRPr lang="en-US" altLang="zh-CN" sz="140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spcAft>
                          <a:spcPct val="0"/>
                        </a:spcAft>
                      </a:pPr>
                      <a:r>
                        <a:rPr lang="en-US" altLang="zh-CN" sz="1400">
                          <a:latin typeface="Times New Roman" panose="02020603050405020304" charset="0"/>
                          <a:ea typeface="Google Sans Text"/>
                          <a:cs typeface="Times New Roman" panose="02020603050405020304" charset="0"/>
                        </a:rPr>
                        <a:t>Description </a:t>
                      </a:r>
                      <a:endParaRPr lang="en-US" altLang="zh-CN" sz="140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569595">
                <a:tc>
                  <a:txBody>
                    <a:bodyPr/>
                    <a:p>
                      <a:pPr>
                        <a:spcBef>
                          <a:spcPct val="0"/>
                        </a:spcBef>
                      </a:pPr>
                      <a:r>
                        <a:rPr lang="en-US" altLang="zh-CN" sz="1400" b="1">
                          <a:latin typeface="Times New Roman" panose="02020603050405020304" charset="0"/>
                          <a:ea typeface="Google Sans Text"/>
                          <a:cs typeface="Times New Roman" panose="02020603050405020304" charset="0"/>
                        </a:rPr>
                        <a:t>Department</a:t>
                      </a:r>
                      <a:endParaRPr lang="en-US" altLang="zh-CN" sz="1400" b="1">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1">
                          <a:latin typeface="Times New Roman" panose="02020603050405020304" charset="0"/>
                          <a:ea typeface="Google Sans Text"/>
                          <a:cs typeface="Times New Roman" panose="02020603050405020304" charset="0"/>
                        </a:rPr>
                        <a:t>dept_id</a:t>
                      </a:r>
                      <a:r>
                        <a:rPr lang="en-US" altLang="zh-CN" sz="1400">
                          <a:latin typeface="Times New Roman" panose="02020603050405020304" charset="0"/>
                          <a:ea typeface="Google Sans Text"/>
                          <a:cs typeface="Times New Roman" panose="02020603050405020304" charset="0"/>
                        </a:rPr>
                        <a:t>, dept_name, location</a:t>
                      </a:r>
                      <a:endParaRPr lang="en-US" altLang="zh-CN" sz="140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a:latin typeface="Times New Roman" panose="02020603050405020304" charset="0"/>
                          <a:ea typeface="Google Sans Text"/>
                          <a:cs typeface="Times New Roman" panose="02020603050405020304" charset="0"/>
                        </a:rPr>
                        <a:t>Stores organizational structure details.</a:t>
                      </a:r>
                      <a:endParaRPr lang="en-US" altLang="zh-CN" sz="140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854075">
                <a:tc>
                  <a:txBody>
                    <a:bodyPr/>
                    <a:p>
                      <a:pPr>
                        <a:spcBef>
                          <a:spcPct val="0"/>
                        </a:spcBef>
                      </a:pPr>
                      <a:r>
                        <a:rPr lang="en-US" altLang="zh-CN" sz="1400" b="1">
                          <a:latin typeface="Times New Roman" panose="02020603050405020304" charset="0"/>
                          <a:ea typeface="Google Sans Text"/>
                          <a:cs typeface="Times New Roman" panose="02020603050405020304" charset="0"/>
                        </a:rPr>
                        <a:t>Employee</a:t>
                      </a:r>
                      <a:endParaRPr lang="en-US" altLang="zh-CN" sz="1400" b="1">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1">
                          <a:latin typeface="Times New Roman" panose="02020603050405020304" charset="0"/>
                          <a:ea typeface="Google Sans Text"/>
                          <a:cs typeface="Times New Roman" panose="02020603050405020304" charset="0"/>
                        </a:rPr>
                        <a:t>user_id</a:t>
                      </a:r>
                      <a:r>
                        <a:rPr lang="en-US" altLang="zh-CN" sz="1400">
                          <a:latin typeface="Times New Roman" panose="02020603050405020304" charset="0"/>
                          <a:ea typeface="Google Sans Text"/>
                          <a:cs typeface="Times New Roman" panose="02020603050405020304" charset="0"/>
                        </a:rPr>
                        <a:t>, username, password, role, </a:t>
                      </a:r>
                      <a:r>
                        <a:rPr lang="en-US" altLang="zh-CN" sz="1400" i="1">
                          <a:latin typeface="Times New Roman" panose="02020603050405020304" charset="0"/>
                          <a:ea typeface="Google Sans Text"/>
                          <a:cs typeface="Times New Roman" panose="02020603050405020304" charset="0"/>
                        </a:rPr>
                        <a:t>dept_id</a:t>
                      </a:r>
                      <a:endParaRPr lang="en-US" altLang="zh-CN" sz="1400" i="1">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a:latin typeface="Times New Roman" panose="02020603050405020304" charset="0"/>
                          <a:ea typeface="Google Sans Text"/>
                          <a:cs typeface="Times New Roman" panose="02020603050405020304" charset="0"/>
                        </a:rPr>
                        <a:t>Stores user login credentials and links to a specific Department.</a:t>
                      </a:r>
                      <a:endParaRPr lang="en-US" altLang="zh-CN" sz="140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39190">
                <a:tc>
                  <a:txBody>
                    <a:bodyPr/>
                    <a:p>
                      <a:pPr>
                        <a:spcBef>
                          <a:spcPct val="0"/>
                        </a:spcBef>
                      </a:pPr>
                      <a:r>
                        <a:rPr lang="en-US" altLang="zh-CN" sz="1400" b="1">
                          <a:latin typeface="Times New Roman" panose="02020603050405020304" charset="0"/>
                          <a:ea typeface="Google Sans Text"/>
                          <a:cs typeface="Times New Roman" panose="02020603050405020304" charset="0"/>
                        </a:rPr>
                        <a:t>LeaveRequest</a:t>
                      </a:r>
                      <a:endParaRPr lang="en-US" altLang="zh-CN" sz="1400" b="1">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1">
                          <a:latin typeface="Times New Roman" panose="02020603050405020304" charset="0"/>
                          <a:ea typeface="Google Sans Text"/>
                          <a:cs typeface="Times New Roman" panose="02020603050405020304" charset="0"/>
                        </a:rPr>
                        <a:t>request_id</a:t>
                      </a:r>
                      <a:r>
                        <a:rPr lang="en-US" altLang="zh-CN" sz="1400">
                          <a:latin typeface="Times New Roman" panose="02020603050405020304" charset="0"/>
                          <a:ea typeface="Google Sans Text"/>
                          <a:cs typeface="Times New Roman" panose="02020603050405020304" charset="0"/>
                        </a:rPr>
                        <a:t>, start_date, end_date, status, </a:t>
                      </a:r>
                      <a:r>
                        <a:rPr lang="en-US" altLang="zh-CN" sz="1400" i="1">
                          <a:latin typeface="Times New Roman" panose="02020603050405020304" charset="0"/>
                          <a:ea typeface="Google Sans Text"/>
                          <a:cs typeface="Times New Roman" panose="02020603050405020304" charset="0"/>
                        </a:rPr>
                        <a:t>user_id</a:t>
                      </a:r>
                      <a:endParaRPr lang="en-US" altLang="zh-CN" sz="1400" i="1">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a:latin typeface="Times New Roman" panose="02020603050405020304" charset="0"/>
                          <a:ea typeface="Google Sans Text"/>
                          <a:cs typeface="Times New Roman" panose="02020603050405020304" charset="0"/>
                        </a:rPr>
                        <a:t>Stores leave application details linked to the Employee who submitted it.</a:t>
                      </a:r>
                      <a:endParaRPr lang="en-US" altLang="zh-CN" sz="140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138555">
                <a:tc>
                  <a:txBody>
                    <a:bodyPr/>
                    <a:p>
                      <a:pPr>
                        <a:spcBef>
                          <a:spcPct val="0"/>
                        </a:spcBef>
                      </a:pPr>
                      <a:r>
                        <a:rPr lang="en-US" altLang="zh-CN" sz="1400" b="1">
                          <a:latin typeface="Times New Roman" panose="02020603050405020304" charset="0"/>
                          <a:ea typeface="Google Sans Text"/>
                          <a:cs typeface="Times New Roman" panose="02020603050405020304" charset="0"/>
                        </a:rPr>
                        <a:t>Announcement</a:t>
                      </a:r>
                      <a:endParaRPr lang="en-US" altLang="zh-CN" sz="1400" b="1">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b="1">
                          <a:latin typeface="Times New Roman" panose="02020603050405020304" charset="0"/>
                          <a:ea typeface="Google Sans Text"/>
                          <a:cs typeface="Times New Roman" panose="02020603050405020304" charset="0"/>
                        </a:rPr>
                        <a:t>notice_id</a:t>
                      </a:r>
                      <a:r>
                        <a:rPr lang="en-US" altLang="zh-CN" sz="1400">
                          <a:latin typeface="Times New Roman" panose="02020603050405020304" charset="0"/>
                          <a:ea typeface="Google Sans Text"/>
                          <a:cs typeface="Times New Roman" panose="02020603050405020304" charset="0"/>
                        </a:rPr>
                        <a:t>, title, content, create_time, </a:t>
                      </a:r>
                      <a:r>
                        <a:rPr lang="en-US" altLang="zh-CN" sz="1400" i="1">
                          <a:latin typeface="Times New Roman" panose="02020603050405020304" charset="0"/>
                          <a:ea typeface="Google Sans Text"/>
                          <a:cs typeface="Times New Roman" panose="02020603050405020304" charset="0"/>
                        </a:rPr>
                        <a:t>user_id</a:t>
                      </a:r>
                      <a:endParaRPr lang="en-US" altLang="zh-CN" sz="1400" i="1">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400">
                          <a:latin typeface="Times New Roman" panose="02020603050405020304" charset="0"/>
                          <a:ea typeface="Google Sans Text"/>
                          <a:cs typeface="Times New Roman" panose="02020603050405020304" charset="0"/>
                        </a:rPr>
                        <a:t>Stores system notifications linked to the Administrator (Employee) who posted them.</a:t>
                      </a:r>
                      <a:endParaRPr lang="en-US" altLang="zh-CN" sz="140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pPr algn="ctr"/>
            <a:r>
              <a:rPr lang="en-US" altLang="zh-CN"/>
              <a:t>Site Map</a:t>
            </a:r>
            <a:endParaRPr lang="en-US" altLang="zh-CN"/>
          </a:p>
        </p:txBody>
      </p:sp>
      <p:pic>
        <p:nvPicPr>
          <p:cNvPr id="4" name="图片 3"/>
          <p:cNvPicPr>
            <a:picLocks noChangeAspect="1"/>
          </p:cNvPicPr>
          <p:nvPr/>
        </p:nvPicPr>
        <p:blipFill>
          <a:blip r:embed="rId1"/>
          <a:stretch>
            <a:fillRect/>
          </a:stretch>
        </p:blipFill>
        <p:spPr>
          <a:xfrm>
            <a:off x="949325" y="1239520"/>
            <a:ext cx="9521190" cy="5342255"/>
          </a:xfrm>
          <a:prstGeom prst="rect">
            <a:avLst/>
          </a:prstGeom>
        </p:spPr>
      </p:pic>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Wireframes</a:t>
            </a:r>
            <a:r>
              <a:rPr lang="zh-CN" altLang="en-US"/>
              <a:t>（</a:t>
            </a:r>
            <a:r>
              <a:rPr lang="en-US" altLang="zh-CN"/>
              <a:t>Login Page</a:t>
            </a:r>
            <a:r>
              <a:rPr lang="zh-CN" altLang="en-US"/>
              <a:t>）</a:t>
            </a:r>
            <a:endParaRPr lang="zh-CN" altLang="en-US"/>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Wireframes</a:t>
            </a:r>
            <a:r>
              <a:rPr lang="zh-CN" altLang="en-US"/>
              <a:t>（</a:t>
            </a:r>
            <a:r>
              <a:rPr lang="en-US" altLang="zh-CN"/>
              <a:t>Dashboard</a:t>
            </a:r>
            <a:r>
              <a:rPr lang="zh-CN" altLang="en-US"/>
              <a:t>）</a:t>
            </a:r>
            <a:endParaRPr lang="zh-CN" altLang="en-US"/>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Wireframes</a:t>
            </a:r>
            <a:r>
              <a:rPr lang="zh-CN" altLang="en-US"/>
              <a:t>（</a:t>
            </a:r>
            <a:r>
              <a:rPr lang="en-US" altLang="zh-CN"/>
              <a:t>Leave Application Form</a:t>
            </a:r>
            <a:r>
              <a:rPr lang="zh-CN" altLang="en-US"/>
              <a:t>）</a:t>
            </a:r>
            <a:endParaRPr lang="zh-CN" altLang="en-US"/>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Wireframes</a:t>
            </a:r>
            <a:r>
              <a:rPr lang="zh-CN" altLang="en-US"/>
              <a:t>（</a:t>
            </a:r>
            <a:r>
              <a:rPr lang="en-US" altLang="zh-CN"/>
              <a:t>Approval List / Management View</a:t>
            </a:r>
            <a:r>
              <a:rPr lang="zh-CN" altLang="en-US"/>
              <a:t>）</a:t>
            </a:r>
            <a:endParaRPr lang="zh-CN" altLang="en-US"/>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Accessibility Plan (WCAG 2.2)</a:t>
            </a:r>
            <a:endParaRPr lang="en-US" altLang="zh-CN"/>
          </a:p>
        </p:txBody>
      </p:sp>
      <p:sp>
        <p:nvSpPr>
          <p:cNvPr id="3" name="内容占位符 2"/>
          <p:cNvSpPr>
            <a:spLocks noGrp="1"/>
          </p:cNvSpPr>
          <p:nvPr>
            <p:ph idx="1"/>
          </p:nvPr>
        </p:nvSpPr>
        <p:spPr/>
        <p:txBody>
          <a:bodyPr>
            <a:noAutofit/>
          </a:bodyPr>
          <a:p>
            <a:pPr marL="0" indent="0">
              <a:lnSpc>
                <a:spcPct val="100000"/>
              </a:lnSpc>
              <a:buNone/>
            </a:pPr>
            <a:r>
              <a:rPr lang="en-US" altLang="zh-CN" sz="1400" b="1">
                <a:latin typeface="Times New Roman" panose="02020603050405020304" charset="0"/>
                <a:cs typeface="Times New Roman" panose="02020603050405020304" charset="0"/>
              </a:rPr>
              <a:t>1.4.3 Contrast (Minimum)</a:t>
            </a:r>
            <a:endParaRPr lang="en-US" altLang="zh-CN" sz="1400" b="1">
              <a:latin typeface="Times New Roman" panose="02020603050405020304" charset="0"/>
              <a:cs typeface="Times New Roman" panose="02020603050405020304" charset="0"/>
            </a:endParaRPr>
          </a:p>
          <a:p>
            <a:pPr marL="0" indent="0">
              <a:lnSpc>
                <a:spcPct val="100000"/>
              </a:lnSpc>
              <a:buNone/>
            </a:pPr>
            <a:r>
              <a:rPr lang="en-US" altLang="zh-CN" sz="1400" b="1">
                <a:latin typeface="Times New Roman" panose="02020603050405020304" charset="0"/>
                <a:cs typeface="Times New Roman" panose="02020603050405020304" charset="0"/>
              </a:rPr>
              <a:t>Application: We will ensure a contrast ratio of at least 4.5:1 for all text on the Dashboard and Leave Application forms to make content readable for users with visual impairments.</a:t>
            </a:r>
            <a:endParaRPr lang="en-US" altLang="zh-CN" sz="1400" b="1">
              <a:latin typeface="Times New Roman" panose="02020603050405020304" charset="0"/>
              <a:cs typeface="Times New Roman" panose="02020603050405020304" charset="0"/>
            </a:endParaRPr>
          </a:p>
          <a:p>
            <a:pPr marL="0" indent="0">
              <a:lnSpc>
                <a:spcPct val="100000"/>
              </a:lnSpc>
              <a:buNone/>
            </a:pPr>
            <a:r>
              <a:rPr lang="en-US" altLang="zh-CN" sz="1400" b="1">
                <a:latin typeface="Times New Roman" panose="02020603050405020304" charset="0"/>
                <a:cs typeface="Times New Roman" panose="02020603050405020304" charset="0"/>
              </a:rPr>
              <a:t>2.1.1 Keyboard</a:t>
            </a:r>
            <a:endParaRPr lang="en-US" altLang="zh-CN" sz="1400" b="1">
              <a:latin typeface="Times New Roman" panose="02020603050405020304" charset="0"/>
              <a:cs typeface="Times New Roman" panose="02020603050405020304" charset="0"/>
            </a:endParaRPr>
          </a:p>
          <a:p>
            <a:pPr marL="0" indent="0">
              <a:lnSpc>
                <a:spcPct val="100000"/>
              </a:lnSpc>
              <a:buNone/>
            </a:pPr>
            <a:r>
              <a:rPr lang="en-US" altLang="zh-CN" sz="1400" b="1">
                <a:latin typeface="Times New Roman" panose="02020603050405020304" charset="0"/>
                <a:cs typeface="Times New Roman" panose="02020603050405020304" charset="0"/>
              </a:rPr>
              <a:t>Application: All functionality, including navigating the sidebar menu and submitting the leave request form, will be operable through a keyboard interface for users who cannot use a mouse.</a:t>
            </a:r>
            <a:endParaRPr lang="en-US" altLang="zh-CN" sz="1400" b="1">
              <a:latin typeface="Times New Roman" panose="02020603050405020304" charset="0"/>
              <a:cs typeface="Times New Roman" panose="02020603050405020304" charset="0"/>
            </a:endParaRPr>
          </a:p>
          <a:p>
            <a:pPr marL="0" indent="0">
              <a:lnSpc>
                <a:spcPct val="100000"/>
              </a:lnSpc>
              <a:buNone/>
            </a:pPr>
            <a:r>
              <a:rPr lang="en-US" altLang="zh-CN" sz="1400" b="1">
                <a:latin typeface="Times New Roman" panose="02020603050405020304" charset="0"/>
                <a:cs typeface="Times New Roman" panose="02020603050405020304" charset="0"/>
              </a:rPr>
              <a:t>2.4.7 Focus Visible</a:t>
            </a:r>
            <a:endParaRPr lang="en-US" altLang="zh-CN" sz="1400" b="1">
              <a:latin typeface="Times New Roman" panose="02020603050405020304" charset="0"/>
              <a:cs typeface="Times New Roman" panose="02020603050405020304" charset="0"/>
            </a:endParaRPr>
          </a:p>
          <a:p>
            <a:pPr marL="0" indent="0">
              <a:lnSpc>
                <a:spcPct val="100000"/>
              </a:lnSpc>
              <a:buNone/>
            </a:pPr>
            <a:r>
              <a:rPr lang="en-US" altLang="zh-CN" sz="1400" b="1">
                <a:latin typeface="Times New Roman" panose="02020603050405020304" charset="0"/>
                <a:cs typeface="Times New Roman" panose="02020603050405020304" charset="0"/>
              </a:rPr>
              <a:t>Application: The system will provide a highly visible focus indicator (e.g., a thick border) on the currently selected input field or button, helping keyboard users know where they are on the page.</a:t>
            </a:r>
            <a:endParaRPr lang="en-US" altLang="zh-CN" sz="1400" b="1">
              <a:latin typeface="Times New Roman" panose="02020603050405020304" charset="0"/>
              <a:cs typeface="Times New Roman" panose="02020603050405020304" charset="0"/>
            </a:endParaRPr>
          </a:p>
          <a:p>
            <a:pPr marL="0" indent="0">
              <a:lnSpc>
                <a:spcPct val="100000"/>
              </a:lnSpc>
              <a:buNone/>
            </a:pPr>
            <a:r>
              <a:rPr lang="en-US" altLang="zh-CN" sz="1400" b="1">
                <a:latin typeface="Times New Roman" panose="02020603050405020304" charset="0"/>
                <a:cs typeface="Times New Roman" panose="02020603050405020304" charset="0"/>
              </a:rPr>
              <a:t>3.3.2 Labels or Instructions</a:t>
            </a:r>
            <a:endParaRPr lang="en-US" altLang="zh-CN" sz="1400" b="1">
              <a:latin typeface="Times New Roman" panose="02020603050405020304" charset="0"/>
              <a:cs typeface="Times New Roman" panose="02020603050405020304" charset="0"/>
            </a:endParaRPr>
          </a:p>
          <a:p>
            <a:pPr marL="0" indent="0">
              <a:lnSpc>
                <a:spcPct val="100000"/>
              </a:lnSpc>
              <a:buNone/>
            </a:pPr>
            <a:r>
              <a:rPr lang="en-US" altLang="zh-CN" sz="1400" b="1">
                <a:latin typeface="Times New Roman" panose="02020603050405020304" charset="0"/>
                <a:cs typeface="Times New Roman" panose="02020603050405020304" charset="0"/>
              </a:rPr>
              <a:t>Application: Every input field in the login and application forms will have a clear, descriptive label (e.g., "Start Date", "Reason") to assist users in inputting data correctly.</a:t>
            </a:r>
            <a:endParaRPr lang="en-US" altLang="zh-CN" sz="1400" b="1">
              <a:latin typeface="Times New Roman" panose="02020603050405020304" charset="0"/>
              <a:cs typeface="Times New Roman" panose="02020603050405020304" charset="0"/>
            </a:endParaRPr>
          </a:p>
          <a:p>
            <a:pPr marL="0" indent="0">
              <a:lnSpc>
                <a:spcPct val="100000"/>
              </a:lnSpc>
              <a:buNone/>
            </a:pPr>
            <a:r>
              <a:rPr lang="en-US" altLang="zh-CN" sz="1400" b="1">
                <a:latin typeface="Times New Roman" panose="02020603050405020304" charset="0"/>
                <a:cs typeface="Times New Roman" panose="02020603050405020304" charset="0"/>
              </a:rPr>
              <a:t>3.3.1 Error Identification</a:t>
            </a:r>
            <a:endParaRPr lang="en-US" altLang="zh-CN" sz="1400" b="1">
              <a:latin typeface="Times New Roman" panose="02020603050405020304" charset="0"/>
              <a:cs typeface="Times New Roman" panose="02020603050405020304" charset="0"/>
            </a:endParaRPr>
          </a:p>
          <a:p>
            <a:pPr marL="0" indent="0">
              <a:lnSpc>
                <a:spcPct val="100000"/>
              </a:lnSpc>
              <a:buNone/>
            </a:pPr>
            <a:r>
              <a:rPr lang="en-US" altLang="zh-CN" sz="1400" b="1">
                <a:latin typeface="Times New Roman" panose="02020603050405020304" charset="0"/>
                <a:cs typeface="Times New Roman" panose="02020603050405020304" charset="0"/>
              </a:rPr>
              <a:t>Application: If a user submits an empty form or invalid date format, the system will identify the specific item that is in error and describe the error in text (e.g., "End date cannot be before Start date").</a:t>
            </a:r>
            <a:endParaRPr lang="en-US" altLang="zh-CN" sz="1400" b="1">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Appendix: Contributions &amp; AI Statement</a:t>
            </a:r>
            <a:endParaRPr lang="en-US" altLang="zh-CN"/>
          </a:p>
        </p:txBody>
      </p:sp>
      <p:sp>
        <p:nvSpPr>
          <p:cNvPr id="3" name="内容占位符 2"/>
          <p:cNvSpPr>
            <a:spLocks noGrp="1"/>
          </p:cNvSpPr>
          <p:nvPr>
            <p:ph idx="1"/>
          </p:nvPr>
        </p:nvSpPr>
        <p:spPr/>
        <p:txBody>
          <a:bodyPr/>
          <a:p>
            <a:r>
              <a:rPr lang="en-US" altLang="zh-CN"/>
              <a:t>Team Member Contributions</a:t>
            </a:r>
            <a:endParaRPr lang="en-US" altLang="zh-CN"/>
          </a:p>
          <a:p>
            <a:endParaRPr lang="en-US" altLang="zh-CN"/>
          </a:p>
        </p:txBody>
      </p:sp>
      <p:graphicFrame>
        <p:nvGraphicFramePr>
          <p:cNvPr id="4" name="表格 3"/>
          <p:cNvGraphicFramePr/>
          <p:nvPr>
            <p:custDataLst>
              <p:tags r:id="rId1"/>
            </p:custDataLst>
          </p:nvPr>
        </p:nvGraphicFramePr>
        <p:xfrm>
          <a:off x="853440" y="1945005"/>
          <a:ext cx="10485120" cy="1696720"/>
        </p:xfrm>
        <a:graphic>
          <a:graphicData uri="http://schemas.openxmlformats.org/drawingml/2006/table">
            <a:tbl>
              <a:tblPr/>
              <a:tblGrid>
                <a:gridCol w="3495040"/>
                <a:gridCol w="3495040"/>
                <a:gridCol w="3495040"/>
              </a:tblGrid>
              <a:tr h="242570">
                <a:tc>
                  <a:txBody>
                    <a:bodyPr/>
                    <a:p>
                      <a:pPr>
                        <a:spcBef>
                          <a:spcPct val="0"/>
                        </a:spcBef>
                        <a:spcAft>
                          <a:spcPct val="0"/>
                        </a:spcAft>
                      </a:pPr>
                      <a:r>
                        <a:rPr lang="en-US" altLang="zh-CN" sz="1200">
                          <a:latin typeface="Times New Roman" panose="02020603050405020304" charset="0"/>
                          <a:ea typeface="Google Sans Text"/>
                          <a:cs typeface="Times New Roman" panose="02020603050405020304" charset="0"/>
                        </a:rPr>
                        <a:t>Student Name</a:t>
                      </a:r>
                      <a:endParaRPr lang="en-US" altLang="zh-CN" sz="120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spcAft>
                          <a:spcPct val="0"/>
                        </a:spcAft>
                      </a:pPr>
                      <a:r>
                        <a:rPr lang="en-US" altLang="zh-CN" sz="1200">
                          <a:latin typeface="Times New Roman" panose="02020603050405020304" charset="0"/>
                          <a:ea typeface="Google Sans Text"/>
                          <a:cs typeface="Times New Roman" panose="02020603050405020304" charset="0"/>
                        </a:rPr>
                        <a:t>Contribution %</a:t>
                      </a:r>
                      <a:endParaRPr lang="en-US" altLang="zh-CN" sz="120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spcAft>
                          <a:spcPct val="0"/>
                        </a:spcAft>
                      </a:pPr>
                      <a:r>
                        <a:rPr lang="en-US" altLang="zh-CN" sz="1200">
                          <a:latin typeface="Times New Roman" panose="02020603050405020304" charset="0"/>
                          <a:ea typeface="Google Sans Text"/>
                          <a:cs typeface="Times New Roman" panose="02020603050405020304" charset="0"/>
                        </a:rPr>
                        <a:t>Main Responsibilities</a:t>
                      </a:r>
                      <a:endParaRPr lang="en-US" altLang="zh-CN" sz="120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484505">
                <a:tc>
                  <a:txBody>
                    <a:bodyPr/>
                    <a:p>
                      <a:pPr>
                        <a:spcBef>
                          <a:spcPct val="0"/>
                        </a:spcBef>
                      </a:pPr>
                      <a:r>
                        <a:rPr lang="en-US" altLang="zh-CN" sz="1200" b="1">
                          <a:latin typeface="Times New Roman" panose="02020603050405020304" charset="0"/>
                          <a:ea typeface="Google Sans Text"/>
                          <a:cs typeface="Times New Roman" panose="02020603050405020304" charset="0"/>
                        </a:rPr>
                        <a:t>Haoran Gu</a:t>
                      </a:r>
                      <a:r>
                        <a:rPr lang="zh-CN" altLang="en-US" sz="1200" b="1">
                          <a:latin typeface="Times New Roman" panose="02020603050405020304" charset="0"/>
                          <a:ea typeface="宋体" panose="02010600030101010101" pitchFamily="2" charset="-122"/>
                          <a:cs typeface="Times New Roman" panose="02020603050405020304" charset="0"/>
                        </a:rPr>
                        <a:t>（</a:t>
                      </a:r>
                      <a:r>
                        <a:rPr lang="en-US" altLang="zh-CN" sz="1200" b="1">
                          <a:latin typeface="Times New Roman" panose="02020603050405020304" charset="0"/>
                          <a:ea typeface="宋体" panose="02010600030101010101" pitchFamily="2" charset="-122"/>
                          <a:cs typeface="Times New Roman" panose="02020603050405020304" charset="0"/>
                        </a:rPr>
                        <a:t>3159487G</a:t>
                      </a:r>
                      <a:r>
                        <a:rPr lang="zh-CN" altLang="en-US" sz="1200" b="1">
                          <a:latin typeface="Times New Roman" panose="02020603050405020304" charset="0"/>
                          <a:ea typeface="宋体" panose="02010600030101010101" pitchFamily="2" charset="-122"/>
                          <a:cs typeface="Times New Roman" panose="02020603050405020304" charset="0"/>
                        </a:rPr>
                        <a:t>）</a:t>
                      </a:r>
                      <a:endParaRPr lang="zh-CN" altLang="en-US" sz="1200" b="1">
                        <a:latin typeface="Times New Roman" panose="02020603050405020304" charset="0"/>
                        <a:ea typeface="宋体" panose="02010600030101010101" pitchFamily="2" charset="-122"/>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200" b="1">
                          <a:latin typeface="Times New Roman" panose="02020603050405020304" charset="0"/>
                          <a:ea typeface="Google Sans Text"/>
                          <a:cs typeface="Times New Roman" panose="02020603050405020304" charset="0"/>
                        </a:rPr>
                        <a:t>34%</a:t>
                      </a:r>
                      <a:endParaRPr lang="en-US" altLang="zh-CN" sz="1200" b="1">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200">
                          <a:latin typeface="Times New Roman" panose="02020603050405020304" charset="0"/>
                          <a:ea typeface="Google Sans Text"/>
                          <a:cs typeface="Times New Roman" panose="02020603050405020304" charset="0"/>
                        </a:rPr>
                        <a:t>Project management, System Architecture, Wireframes (Dashboard &amp; Login), Final review.</a:t>
                      </a:r>
                      <a:endParaRPr lang="en-US" altLang="zh-CN" sz="120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484505">
                <a:tc>
                  <a:txBody>
                    <a:bodyPr/>
                    <a:p>
                      <a:pPr>
                        <a:spcBef>
                          <a:spcPct val="0"/>
                        </a:spcBef>
                      </a:pPr>
                      <a:r>
                        <a:rPr lang="en-US" altLang="zh-CN" sz="1200" b="1">
                          <a:latin typeface="Times New Roman" panose="02020603050405020304" charset="0"/>
                          <a:ea typeface="Google Sans Text"/>
                          <a:cs typeface="Times New Roman" panose="02020603050405020304" charset="0"/>
                        </a:rPr>
                        <a:t>Hanyu Zhang</a:t>
                      </a:r>
                      <a:r>
                        <a:rPr lang="zh-CN" altLang="en-US" sz="1200" b="1">
                          <a:latin typeface="Times New Roman" panose="02020603050405020304" charset="0"/>
                          <a:ea typeface="宋体" panose="02010600030101010101" pitchFamily="2" charset="-122"/>
                          <a:cs typeface="Times New Roman" panose="02020603050405020304" charset="0"/>
                        </a:rPr>
                        <a:t>（</a:t>
                      </a:r>
                      <a:r>
                        <a:rPr lang="en-US" altLang="zh-CN" sz="1200" b="1">
                          <a:latin typeface="Times New Roman" panose="02020603050405020304" charset="0"/>
                          <a:ea typeface="宋体" panose="02010600030101010101" pitchFamily="2" charset="-122"/>
                          <a:cs typeface="Times New Roman" panose="02020603050405020304" charset="0"/>
                        </a:rPr>
                        <a:t>3158754Z</a:t>
                      </a:r>
                      <a:r>
                        <a:rPr lang="zh-CN" altLang="en-US" sz="1200" b="1">
                          <a:latin typeface="Times New Roman" panose="02020603050405020304" charset="0"/>
                          <a:ea typeface="宋体" panose="02010600030101010101" pitchFamily="2" charset="-122"/>
                          <a:cs typeface="Times New Roman" panose="02020603050405020304" charset="0"/>
                        </a:rPr>
                        <a:t>）</a:t>
                      </a:r>
                      <a:endParaRPr lang="zh-CN" altLang="en-US" sz="1200" b="1">
                        <a:latin typeface="Times New Roman" panose="02020603050405020304" charset="0"/>
                        <a:ea typeface="宋体" panose="02010600030101010101" pitchFamily="2" charset="-122"/>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200" b="1">
                          <a:latin typeface="Times New Roman" panose="02020603050405020304" charset="0"/>
                          <a:ea typeface="Google Sans Text"/>
                          <a:cs typeface="Times New Roman" panose="02020603050405020304" charset="0"/>
                        </a:rPr>
                        <a:t>33%</a:t>
                      </a:r>
                      <a:endParaRPr lang="en-US" altLang="zh-CN" sz="1200" b="1">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200">
                          <a:latin typeface="Times New Roman" panose="02020603050405020304" charset="0"/>
                          <a:ea typeface="Google Sans Text"/>
                          <a:cs typeface="Times New Roman" panose="02020603050405020304" charset="0"/>
                        </a:rPr>
                        <a:t>Specification (User Stories), ER Diagram design, Wireframes (Forms), Accessibility Plan.</a:t>
                      </a:r>
                      <a:endParaRPr lang="en-US" altLang="zh-CN" sz="120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485140">
                <a:tc>
                  <a:txBody>
                    <a:bodyPr/>
                    <a:p>
                      <a:pPr>
                        <a:spcBef>
                          <a:spcPct val="0"/>
                        </a:spcBef>
                      </a:pPr>
                      <a:r>
                        <a:rPr lang="en-US" altLang="zh-CN" sz="1200" b="1">
                          <a:latin typeface="Times New Roman" panose="02020603050405020304" charset="0"/>
                          <a:ea typeface="Google Sans Text"/>
                          <a:cs typeface="Times New Roman" panose="02020603050405020304" charset="0"/>
                        </a:rPr>
                        <a:t>Chuhan Su</a:t>
                      </a:r>
                      <a:r>
                        <a:rPr lang="zh-CN" altLang="en-US" sz="1200" b="1">
                          <a:latin typeface="Times New Roman" panose="02020603050405020304" charset="0"/>
                          <a:ea typeface="宋体" panose="02010600030101010101" pitchFamily="2" charset="-122"/>
                          <a:cs typeface="Times New Roman" panose="02020603050405020304" charset="0"/>
                        </a:rPr>
                        <a:t>（</a:t>
                      </a:r>
                      <a:r>
                        <a:rPr lang="en-US" altLang="zh-CN" sz="1200" b="1">
                          <a:latin typeface="Times New Roman" panose="02020603050405020304" charset="0"/>
                          <a:ea typeface="宋体" panose="02010600030101010101" pitchFamily="2" charset="-122"/>
                          <a:cs typeface="Times New Roman" panose="02020603050405020304" charset="0"/>
                        </a:rPr>
                        <a:t>3023779S</a:t>
                      </a:r>
                      <a:r>
                        <a:rPr lang="zh-CN" altLang="en-US" sz="1200" b="1">
                          <a:latin typeface="Times New Roman" panose="02020603050405020304" charset="0"/>
                          <a:ea typeface="宋体" panose="02010600030101010101" pitchFamily="2" charset="-122"/>
                          <a:cs typeface="Times New Roman" panose="02020603050405020304" charset="0"/>
                        </a:rPr>
                        <a:t>）</a:t>
                      </a:r>
                      <a:endParaRPr lang="zh-CN" altLang="en-US" sz="1200" b="1">
                        <a:latin typeface="Times New Roman" panose="02020603050405020304" charset="0"/>
                        <a:ea typeface="宋体" panose="02010600030101010101" pitchFamily="2" charset="-122"/>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200" b="1">
                          <a:latin typeface="Times New Roman" panose="02020603050405020304" charset="0"/>
                          <a:ea typeface="Google Sans Text"/>
                          <a:cs typeface="Times New Roman" panose="02020603050405020304" charset="0"/>
                        </a:rPr>
                        <a:t>33%</a:t>
                      </a:r>
                      <a:endParaRPr lang="en-US" altLang="zh-CN" sz="1200" b="1">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spcBef>
                          <a:spcPct val="0"/>
                        </a:spcBef>
                      </a:pPr>
                      <a:r>
                        <a:rPr lang="en-US" altLang="zh-CN" sz="1200">
                          <a:latin typeface="Times New Roman" panose="02020603050405020304" charset="0"/>
                          <a:ea typeface="Google Sans Text"/>
                          <a:cs typeface="Times New Roman" panose="02020603050405020304" charset="0"/>
                        </a:rPr>
                        <a:t>Site Map structure, Database schema details, Overview slides, Presentation formatting.</a:t>
                      </a:r>
                      <a:endParaRPr lang="en-US" altLang="zh-CN" sz="1200">
                        <a:latin typeface="Times New Roman" panose="02020603050405020304" charset="0"/>
                        <a:ea typeface="Google Sans Text"/>
                        <a:cs typeface="Times New Roman" panose="02020603050405020304" charset="0"/>
                      </a:endParaRPr>
                    </a:p>
                  </a:txBody>
                  <a:tcPr marL="0" marR="0" marT="0"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TABLE_ENDDRAG_ORIGIN_RECT" val="839*360"/>
  <p:tag name="TABLE_ENDDRAG_RECT" val="67*111*839*360"/>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TABLE_ENDDRAG_ORIGIN_RECT" val="448*358"/>
  <p:tag name="TABLE_ENDDRAG_RECT" val="444*120*448*358"/>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TABLE_ENDDRAG_ORIGIN_RECT" val="825*133"/>
  <p:tag name="TABLE_ENDDRAG_RECT" val="67*153*825*133"/>
</p:tagLst>
</file>

<file path=ppt/tags/tag79.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4575</Words>
  <Application>WPS 演示</Application>
  <PresentationFormat>宽屏</PresentationFormat>
  <Paragraphs>157</Paragraphs>
  <Slides>12</Slides>
  <Notes>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宋体</vt:lpstr>
      <vt:lpstr>Wingdings</vt:lpstr>
      <vt:lpstr>Wingdings</vt:lpstr>
      <vt:lpstr>Times New Roman</vt:lpstr>
      <vt:lpstr>Google Sans Text</vt:lpstr>
      <vt:lpstr>Segoe Print</vt:lpstr>
      <vt:lpstr>微软雅黑</vt:lpstr>
      <vt:lpstr>Arial Unicode MS</vt:lpstr>
      <vt:lpstr>Calibri</vt:lpstr>
      <vt:lpstr>WPS</vt:lpstr>
      <vt:lpstr>Enterprise OA System</vt:lpstr>
      <vt:lpstr>Overview</vt:lpstr>
      <vt:lpstr>User Stories (MoSCoW)</vt:lpstr>
      <vt:lpstr>PowerPoint 演示文稿</vt:lpstr>
      <vt:lpstr>PowerPoint 演示文稿</vt:lpstr>
      <vt:lpstr>PowerPoint 演示文稿</vt:lpstr>
      <vt:lpstr>PowerPoint 演示文稿</vt:lpstr>
      <vt:lpstr>Wireframes（）</vt:lpstr>
      <vt:lpstr>Wireframes（）</vt:lpstr>
      <vt:lpstr>Wireframes（）</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云中客</cp:lastModifiedBy>
  <cp:revision>169</cp:revision>
  <dcterms:created xsi:type="dcterms:W3CDTF">2019-06-19T02:08:00Z</dcterms:created>
  <dcterms:modified xsi:type="dcterms:W3CDTF">2026-02-09T16:51:45Z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9185A68F09A94C419070447046A2AAE5_11</vt:lpwstr>
  </property>
</Properties>
</file>